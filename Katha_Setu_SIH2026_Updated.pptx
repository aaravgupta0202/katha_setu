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25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774" y="2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009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2400" dirty="0"/>
          </a:p>
        </p:txBody>
      </p:sp>
      <p:pic>
        <p:nvPicPr>
          <p:cNvPr id="3" name="Image 0" descr="/home/claude/work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01752"/>
            <a:ext cx="1600200" cy="7269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5291" y="1163574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Katha Setu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95291" y="186344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17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Camera-first micro-feature recognition &amp; multilingual visual storytelling for heritage tourism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95291" y="2471166"/>
            <a:ext cx="704088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 </a:t>
            </a: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IHSIH005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  </a:t>
            </a: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Multilingual Virtual Guide for Heritage Tourism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 /  Category:  </a:t>
            </a: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&amp; Culture   /   Software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 </a:t>
            </a: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Institute of Technology (MIT), MAHE, Manipal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5291" y="4331970"/>
            <a:ext cx="7086600" cy="1691640"/>
          </a:xfrm>
          <a:prstGeom prst="roundRect">
            <a:avLst>
              <a:gd name="adj" fmla="val 6486"/>
            </a:avLst>
          </a:prstGeom>
          <a:solidFill>
            <a:srgbClr val="EAF2FB"/>
          </a:solidFill>
          <a:ln w="15875">
            <a:solidFill>
              <a:srgbClr val="1F5FA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95291" y="4469130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KATHA SETU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5291" y="4789170"/>
            <a:ext cx="708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Engineering, MIT Manipal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5331" y="515493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Aankhi Roy — 251090052528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Kausiki Sah — 251090052272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 Vaidya — 251090050852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07171" y="515493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Krishnendu — 251090052822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Gupta — 251090052556</a:t>
            </a:r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Ashwin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Anil — 251090050376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56211" y="1323594"/>
            <a:ext cx="3931920" cy="4700016"/>
          </a:xfrm>
          <a:prstGeom prst="roundRect">
            <a:avLst>
              <a:gd name="adj" fmla="val 2791"/>
            </a:avLst>
          </a:prstGeom>
          <a:solidFill>
            <a:srgbClr val="FAFBFD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856211" y="134645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8031462" y="1917954"/>
            <a:ext cx="548640" cy="548640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/home/claude/work/icons/crossh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136" y="2049628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845278" y="191246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Point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845278" y="217764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00" b="0">
                <a:solidFill>
                  <a:srgbClr val="6B7684"/>
                </a:solidFill>
                <a:latin typeface="Calibri"/>
              </a:rPr>
              <a:t>Aim at a carving; always-scanning mode keeps detecting as you walk, with location context for nearby heritage features.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96638" y="2466594"/>
            <a:ext cx="0" cy="438912"/>
          </a:xfrm>
          <a:prstGeom prst="line">
            <a:avLst/>
          </a:prstGeom>
          <a:noFill/>
          <a:ln w="15875">
            <a:solidFill>
              <a:srgbClr val="C7D1D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031462" y="2905506"/>
            <a:ext cx="548640" cy="548640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/home/claude/work/icons/s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3136" y="3037180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45278" y="29000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845278" y="316519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vision recognizes the exact micro-feature.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296638" y="3454146"/>
            <a:ext cx="0" cy="438912"/>
          </a:xfrm>
          <a:prstGeom prst="line">
            <a:avLst/>
          </a:prstGeom>
          <a:noFill/>
          <a:ln w="15875">
            <a:solidFill>
              <a:srgbClr val="C7D1D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8031462" y="3893058"/>
            <a:ext cx="548640" cy="548640"/>
          </a:xfrm>
          <a:prstGeom prst="ellipse">
            <a:avLst/>
          </a:prstGeom>
          <a:solidFill>
            <a:srgbClr val="E17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/home/claude/work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3136" y="4024732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845278" y="388757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Retrieve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845278" y="415274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it against a verified heritage knowledge base.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296638" y="4441698"/>
            <a:ext cx="0" cy="438912"/>
          </a:xfrm>
          <a:prstGeom prst="line">
            <a:avLst/>
          </a:prstGeom>
          <a:noFill/>
          <a:ln w="15875">
            <a:solidFill>
              <a:srgbClr val="C7D1D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8031462" y="488061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/home/claude/work/icons/p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3136" y="501228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845278" y="487512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Experience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8845278" y="51403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a short visual story in the visitor's language.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/>
          <p:nvPr/>
        </p:nvSpPr>
        <p:spPr>
          <a:xfrm>
            <a:off x="365760" y="6547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|  Katha Setu  |  IHSIH005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11338560" y="654710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694944"/>
          </a:xfrm>
          <a:prstGeom prst="ellipse">
            <a:avLst/>
          </a:prstGeom>
          <a:solidFill>
            <a:srgbClr val="14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12141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Katha Setu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20240" y="237744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Katha Setu — Micro-Feature Heritage Storyteller</a:t>
            </a:r>
            <a:endParaRPr lang="en-US" sz="2400" dirty="0"/>
          </a:p>
        </p:txBody>
      </p:sp>
      <p:pic>
        <p:nvPicPr>
          <p:cNvPr id="5" name="Image 0" descr="/home/claude/work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01752"/>
            <a:ext cx="1600200" cy="7269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6547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|  Katha Setu  |  IHSIH005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078992"/>
            <a:ext cx="2670048" cy="1298448"/>
          </a:xfrm>
          <a:prstGeom prst="roundRect">
            <a:avLst>
              <a:gd name="adj" fmla="val 8451"/>
            </a:avLst>
          </a:prstGeom>
          <a:solidFill>
            <a:srgbClr val="EAF2FB"/>
          </a:solidFill>
          <a:ln w="15875">
            <a:solidFill>
              <a:srgbClr val="1F5FA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467612" y="1197864"/>
            <a:ext cx="502920" cy="502920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work/icons/crossh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313" y="1318565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" y="1737360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Point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21208" y="1993392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aims the phone camera at a specific carving, statue or motif.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11957" y="1078992"/>
            <a:ext cx="2670048" cy="1298448"/>
          </a:xfrm>
          <a:prstGeom prst="roundRect">
            <a:avLst>
              <a:gd name="adj" fmla="val 8451"/>
            </a:avLst>
          </a:prstGeom>
          <a:solidFill>
            <a:srgbClr val="E7F6F2"/>
          </a:solidFill>
          <a:ln w="15875">
            <a:solidFill>
              <a:srgbClr val="0E8C7F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395521" y="1197864"/>
            <a:ext cx="502920" cy="502920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work/icons/s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6222" y="1318565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11957" y="1737360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8C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Identify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449117" y="1993392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vision recognizes the exact micro-feature in real time.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06283" y="1078161"/>
            <a:ext cx="2670048" cy="1298448"/>
          </a:xfrm>
          <a:prstGeom prst="roundRect">
            <a:avLst>
              <a:gd name="adj" fmla="val 8451"/>
            </a:avLst>
          </a:prstGeom>
          <a:solidFill>
            <a:srgbClr val="FDEEE3"/>
          </a:solidFill>
          <a:ln w="15875">
            <a:solidFill>
              <a:srgbClr val="E1732E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289847" y="1197033"/>
            <a:ext cx="502920" cy="502920"/>
          </a:xfrm>
          <a:prstGeom prst="ellipse">
            <a:avLst/>
          </a:prstGeom>
          <a:solidFill>
            <a:srgbClr val="E17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work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0548" y="1317734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06283" y="1736529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7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Retrieve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43443" y="1992561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is matched against a verified heritage knowledge base.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125712" y="1078992"/>
            <a:ext cx="2670048" cy="1298448"/>
          </a:xfrm>
          <a:prstGeom prst="roundRect">
            <a:avLst>
              <a:gd name="adj" fmla="val 8451"/>
            </a:avLst>
          </a:prstGeom>
          <a:solidFill>
            <a:srgbClr val="F8ECEA"/>
          </a:solidFill>
          <a:ln w="15875">
            <a:solidFill>
              <a:srgbClr val="B85042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10209276" y="1197864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work/icons/p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9977" y="1318565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25712" y="1737360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Experience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9262872" y="1993392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audio-visual story plays in the visitor's own language.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84048" y="2670048"/>
            <a:ext cx="5513832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594360" y="2871216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work/icons/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" y="2980944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79576" y="2843784"/>
            <a:ext cx="4562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&amp; Problem-Fit</a:t>
            </a: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594360" y="3447288"/>
            <a:ext cx="509320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Feature-first, not monument-first: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dedicated 30-45s story for each carving, frieze,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Yali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pillar or inscription, instead of one generic site summary.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“what do I even ask” barrier: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tourists rarely know a carving's formal name, so pointing the camera replaces typing a query.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language and guide gap: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verified narration in Kannada, Tulu, Hindi, Tamil and English, without an expensive or unavailable human guide.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every visitor: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 at a carving that is not yet catalogued, for example near MIT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Manipal's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coastal Karnataka temples, tag it once, and it is verified and added for every visitor after you.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6281928" y="2670048"/>
            <a:ext cx="5513832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6492240" y="2871216"/>
            <a:ext cx="457200" cy="457200"/>
          </a:xfrm>
          <a:prstGeom prst="ellipse">
            <a:avLst/>
          </a:prstGeom>
          <a:solidFill>
            <a:srgbClr val="E17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6" descr="/home/claude/work/icons/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1968" y="2980944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077456" y="2843784"/>
            <a:ext cx="4562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E17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Core Uniqueness</a:t>
            </a:r>
            <a:endParaRPr lang="en-US" dirty="0"/>
          </a:p>
        </p:txBody>
      </p:sp>
      <p:sp>
        <p:nvSpPr>
          <p:cNvPr id="38" name="Text 29"/>
          <p:cNvSpPr/>
          <p:nvPr/>
        </p:nvSpPr>
        <p:spPr>
          <a:xfrm>
            <a:off x="6492240" y="3447288"/>
            <a:ext cx="509320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400" b="1">
                <a:latin typeface="Calibri"/>
              </a:rPr>
              <a:t>Micro-feature granularity: </a:t>
            </a:r>
            <a:r>
              <a:rPr sz="1400" b="0">
                <a:latin typeface="Calibri"/>
              </a:rPr>
              <a:t>distinguishes Hoysala, Chola and Vijayanagara motifs.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400" b="1">
                <a:latin typeface="Calibri"/>
              </a:rPr>
              <a:t>Zero hardware footprint: </a:t>
            </a:r>
            <a:r>
              <a:rPr sz="1400" b="0">
                <a:latin typeface="Calibri"/>
              </a:rPr>
              <a:t>smartphone-only; no beacons, RFID or QR tags.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400" b="1">
                <a:latin typeface="Calibri"/>
              </a:rPr>
              <a:t>Community-verified: </a:t>
            </a:r>
            <a:r>
              <a:rPr sz="1400" b="0">
                <a:latin typeface="Calibri"/>
              </a:rPr>
              <a:t>archives, moderators and local experts verify entries.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400" b="1">
                <a:latin typeface="Calibri"/>
              </a:rPr>
              <a:t>Offline-first: </a:t>
            </a:r>
            <a:r>
              <a:rPr sz="1400" b="0">
                <a:latin typeface="Calibri"/>
              </a:rPr>
              <a:t>quantized models + site packs work without signal.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400" b="1">
                <a:latin typeface="Calibri"/>
              </a:rPr>
              <a:t>Grows with every visitor: </a:t>
            </a:r>
            <a:r>
              <a:rPr sz="1400" b="0">
                <a:latin typeface="Calibri"/>
              </a:rPr>
              <a:t>new carvings can be tagged; damage flags route to restoration.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400" b="1">
                <a:latin typeface="Calibri"/>
              </a:rPr>
              <a:t>Gamified discovery: </a:t>
            </a:r>
            <a:r>
              <a:rPr sz="1400" b="0">
                <a:latin typeface="Calibri"/>
              </a:rPr>
              <a:t>optional collectible mode makes discovery playful.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400" b="1">
                <a:latin typeface="Calibri"/>
              </a:rPr>
              <a:t>Visit history: </a:t>
            </a:r>
            <a:r>
              <a:rPr sz="1400" b="0">
                <a:latin typeface="Calibri"/>
              </a:rPr>
              <a:t>records scanned and discovered features across sessions.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694944"/>
          </a:xfrm>
          <a:prstGeom prst="ellipse">
            <a:avLst/>
          </a:prstGeom>
          <a:solidFill>
            <a:srgbClr val="14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19456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Katha Setu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20240" y="237744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 &amp; System Architecture</a:t>
            </a:r>
            <a:endParaRPr lang="en-US" sz="2400" dirty="0"/>
          </a:p>
        </p:txBody>
      </p:sp>
      <p:pic>
        <p:nvPicPr>
          <p:cNvPr id="5" name="Image 0" descr="/home/claude/work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01752"/>
            <a:ext cx="1600200" cy="7269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6547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|  Katha Setu  |  IHSIH005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051560"/>
            <a:ext cx="11411712" cy="18288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84048" y="1124712"/>
            <a:ext cx="11411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212848" y="1463040"/>
            <a:ext cx="566928" cy="566928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work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911" y="15991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09928" y="2048256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Stream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709928" y="224942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30fps live feed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999232" y="1682496"/>
            <a:ext cx="1389888" cy="128016"/>
          </a:xfrm>
          <a:prstGeom prst="rightArrow">
            <a:avLst/>
          </a:prstGeom>
          <a:solidFill>
            <a:srgbClr val="C7D1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4608576" y="1463040"/>
            <a:ext cx="566928" cy="566928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work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639" y="159910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05656" y="2048256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Vision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105656" y="224942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+ MobileSAM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394960" y="1682496"/>
            <a:ext cx="1389888" cy="128016"/>
          </a:xfrm>
          <a:prstGeom prst="rightArrow">
            <a:avLst/>
          </a:prstGeom>
          <a:solidFill>
            <a:srgbClr val="C7D1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7004304" y="1463040"/>
            <a:ext cx="566928" cy="566928"/>
          </a:xfrm>
          <a:prstGeom prst="ellipse">
            <a:avLst/>
          </a:prstGeom>
          <a:solidFill>
            <a:srgbClr val="E17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work/icons/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0367" y="1599103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01384" y="2048256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501384" y="224942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+ ASI verified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790688" y="1682496"/>
            <a:ext cx="1389888" cy="128016"/>
          </a:xfrm>
          <a:prstGeom prst="rightArrow">
            <a:avLst/>
          </a:prstGeom>
          <a:solidFill>
            <a:srgbClr val="C7D1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9400032" y="146304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/home/claude/work/icons/vo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6095" y="1599103"/>
            <a:ext cx="294803" cy="29480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897112" y="2048256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TTS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897112" y="224942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+ AR overlay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384048" y="2615184"/>
            <a:ext cx="11411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Sub-80ms on-device detection    •    zero cloud dependency for identification    •    narration synced to the visitor's language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384048" y="3063240"/>
            <a:ext cx="3639312" cy="3319272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566928" y="3246120"/>
            <a:ext cx="457200" cy="457200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5" descr="/home/claude/work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355848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52144" y="3218688"/>
            <a:ext cx="2688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Computer Vision</a:t>
            </a:r>
            <a:endParaRPr lang="en-US" sz="2000" dirty="0"/>
          </a:p>
        </p:txBody>
      </p:sp>
      <p:sp>
        <p:nvSpPr>
          <p:cNvPr id="35" name="Text 27"/>
          <p:cNvSpPr/>
          <p:nvPr/>
        </p:nvSpPr>
        <p:spPr>
          <a:xfrm>
            <a:off x="576072" y="3971821"/>
            <a:ext cx="3255264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fine-tuned YOLOv11-nano with </a:t>
            </a:r>
            <a:r>
              <a:rPr lang="en-US" sz="12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MobileSAM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sub-feature segmentation of stone motifs.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Florence-2 / CLIP </a:t>
            </a:r>
            <a:r>
              <a:rPr lang="en-US" sz="12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flag uncatalogued or worn carvings so a visitor can tag them instead of getting no answer.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ONNX Runtime Mobile and </a:t>
            </a:r>
            <a:r>
              <a:rPr lang="en-US" sz="12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Lite (INT8) for under 80ms on-device inference.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overlay: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US" sz="12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ARCore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bounding-box highlighting and contour tracking.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4270248" y="3054096"/>
            <a:ext cx="3639312" cy="3319272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4453128" y="3236976"/>
            <a:ext cx="457200" cy="457200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6" descr="/home/claude/work/icons/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856" y="3346704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038344" y="3209544"/>
            <a:ext cx="2688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8C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 &amp; RAG</a:t>
            </a:r>
            <a:endParaRPr lang="en-US" sz="2000" dirty="0"/>
          </a:p>
        </p:txBody>
      </p:sp>
      <p:sp>
        <p:nvSpPr>
          <p:cNvPr id="40" name="Text 31"/>
          <p:cNvSpPr/>
          <p:nvPr/>
        </p:nvSpPr>
        <p:spPr>
          <a:xfrm>
            <a:off x="4462272" y="3962677"/>
            <a:ext cx="3255264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Neo4j / </a:t>
            </a:r>
            <a:r>
              <a:rPr lang="en-US" sz="12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linking deities, dynasties, iconographic canons, folklore and community-tagged features.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FAISS indexing verified ASI monographs, gazetteers and moderator-approved user entries.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fine-tuned Llama-3.3-8B / </a:t>
            </a:r>
            <a:r>
              <a:rPr lang="en-US" sz="12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IndicLLM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guardrails against hallucination.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engine: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produces 30-45s scripts adapted to the visitor's age and interest level.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8156448" y="3063240"/>
            <a:ext cx="3639312" cy="3319272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8339328" y="3246120"/>
            <a:ext cx="457200" cy="457200"/>
          </a:xfrm>
          <a:prstGeom prst="ellipse">
            <a:avLst/>
          </a:prstGeom>
          <a:solidFill>
            <a:srgbClr val="E17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7" descr="/home/claude/work/icons/vo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56" y="3355848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8924544" y="3218688"/>
            <a:ext cx="2688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17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&amp; Application</a:t>
            </a:r>
            <a:endParaRPr lang="en-US" sz="2000" dirty="0"/>
          </a:p>
        </p:txBody>
      </p:sp>
      <p:sp>
        <p:nvSpPr>
          <p:cNvPr id="45" name="Text 35"/>
          <p:cNvSpPr/>
          <p:nvPr/>
        </p:nvSpPr>
        <p:spPr>
          <a:xfrm>
            <a:off x="8348472" y="3971821"/>
            <a:ext cx="3255264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200" b="1">
                <a:latin typeface="Calibri"/>
              </a:rPr>
              <a:t>Speech: </a:t>
            </a:r>
            <a:r>
              <a:rPr sz="1200" b="0">
                <a:latin typeface="Calibri"/>
              </a:rPr>
              <a:t>Bhashini + AI4Bharat Indic-TTS; 12+ languages.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200" b="1">
                <a:latin typeface="Calibri"/>
              </a:rPr>
              <a:t>Offline sync: </a:t>
            </a:r>
            <a:r>
              <a:rPr sz="1200" b="0">
                <a:latin typeface="Calibri"/>
              </a:rPr>
              <a:t>~25MB site packs cache weights, vectors + audio; GPS averaging estimates approximate position from recent on-device fixes.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200" b="1">
                <a:latin typeface="Calibri"/>
              </a:rPr>
              <a:t>Client: </a:t>
            </a:r>
            <a:r>
              <a:rPr sz="1200" b="0">
                <a:latin typeface="Calibri"/>
              </a:rPr>
              <a:t>Flutter / React Native + WebAssembly PWA.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200" b="1">
                <a:latin typeface="Calibri"/>
              </a:rPr>
              <a:t>Analytics: </a:t>
            </a:r>
            <a:r>
              <a:rPr sz="1200" b="0">
                <a:latin typeface="Calibri"/>
              </a:rPr>
              <a:t>flags high-curiosity and uncatalogued spots.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694944"/>
          </a:xfrm>
          <a:prstGeom prst="ellipse">
            <a:avLst/>
          </a:prstGeom>
          <a:solidFill>
            <a:srgbClr val="14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19456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Katha Setu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20240" y="237744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&amp; Local Context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6547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|  Katha Setu  |  IHSIH005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384048" y="1417320"/>
            <a:ext cx="3639312" cy="45262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566928" y="1600200"/>
            <a:ext cx="457200" cy="457200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Box 32"/>
          <p:cNvSpPr txBox="1"/>
          <p:nvPr/>
        </p:nvSpPr>
        <p:spPr>
          <a:xfrm>
            <a:off x="640080" y="1664208"/>
            <a:ext cx="310896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ejaVu Sans"/>
              </a:rPr>
              <a:t>⌖</a:t>
            </a:r>
          </a:p>
        </p:txBody>
      </p:sp>
      <p:sp>
        <p:nvSpPr>
          <p:cNvPr id="34" name="Text 26"/>
          <p:cNvSpPr/>
          <p:nvPr/>
        </p:nvSpPr>
        <p:spPr>
          <a:xfrm>
            <a:off x="960120" y="1572768"/>
            <a:ext cx="2862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566928" y="2240280"/>
            <a:ext cx="3273552" cy="33375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200" b="1">
                <a:latin typeface="Calibri"/>
              </a:rPr>
              <a:t>Live map: </a:t>
            </a:r>
            <a:r>
              <a:rPr sz="1200" b="0">
                <a:latin typeface="Calibri"/>
              </a:rPr>
              <a:t>shows the visitor's position relative to nearby heritage sites and features.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200" b="1">
                <a:latin typeface="Calibri"/>
              </a:rPr>
              <a:t>Context anchor: </a:t>
            </a:r>
            <a:r>
              <a:rPr sz="1200" b="0">
                <a:latin typeface="Calibri"/>
              </a:rPr>
              <a:t>the map view anchors nearby food and transport suggestions.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200" b="1">
                <a:latin typeface="Calibri"/>
              </a:rPr>
              <a:t>Trail view: </a:t>
            </a:r>
            <a:r>
              <a:rPr sz="1200" b="0">
                <a:latin typeface="Calibri"/>
              </a:rPr>
              <a:t>helps visitors understand which heritage points are close together.</a:t>
            </a:r>
          </a:p>
          <a:p>
            <a:r>
              <a:rPr sz="1200" b="1">
                <a:latin typeface="Calibri"/>
              </a:rPr>
              <a:t>Privacy-first: </a:t>
            </a:r>
            <a:r>
              <a:rPr sz="1200" b="0">
                <a:latin typeface="Calibri"/>
              </a:rPr>
              <a:t>position data stays on-device, consistent with the zero-cloud identification pipeline.</a:t>
            </a:r>
          </a:p>
        </p:txBody>
      </p:sp>
      <p:sp>
        <p:nvSpPr>
          <p:cNvPr id="9" name="Shape 24"/>
          <p:cNvSpPr/>
          <p:nvPr/>
        </p:nvSpPr>
        <p:spPr>
          <a:xfrm>
            <a:off x="4270248" y="1417320"/>
            <a:ext cx="3639312" cy="45262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25"/>
          <p:cNvSpPr/>
          <p:nvPr/>
        </p:nvSpPr>
        <p:spPr>
          <a:xfrm>
            <a:off x="4453128" y="1600200"/>
            <a:ext cx="457200" cy="457200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Box 35"/>
          <p:cNvSpPr txBox="1"/>
          <p:nvPr/>
        </p:nvSpPr>
        <p:spPr>
          <a:xfrm>
            <a:off x="4526280" y="1664208"/>
            <a:ext cx="310896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ejaVu Sans"/>
              </a:rPr>
              <a:t>●</a:t>
            </a:r>
          </a:p>
        </p:txBody>
      </p:sp>
      <p:sp>
        <p:nvSpPr>
          <p:cNvPr id="11" name="Text 26"/>
          <p:cNvSpPr/>
          <p:nvPr/>
        </p:nvSpPr>
        <p:spPr>
          <a:xfrm>
            <a:off x="4846320" y="1572768"/>
            <a:ext cx="2862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Places</a:t>
            </a:r>
            <a:endParaRPr lang="en-US" sz="2000" dirty="0"/>
          </a:p>
        </p:txBody>
      </p:sp>
      <p:sp>
        <p:nvSpPr>
          <p:cNvPr id="37" name="TextBox 36"/>
          <p:cNvSpPr txBox="1"/>
          <p:nvPr/>
        </p:nvSpPr>
        <p:spPr>
          <a:xfrm>
            <a:off x="4453128" y="2240280"/>
            <a:ext cx="3273552" cy="33375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200" b="1">
                <a:latin typeface="Calibri"/>
              </a:rPr>
              <a:t>Nearby options: </a:t>
            </a:r>
            <a:r>
              <a:rPr sz="1200" b="0">
                <a:latin typeface="Calibri"/>
              </a:rPr>
              <a:t>surfaces food places based on the visitor's current location.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200" b="1">
                <a:latin typeface="Calibri"/>
              </a:rPr>
              <a:t>Site-aware: </a:t>
            </a:r>
            <a:r>
              <a:rPr sz="1200" b="0">
                <a:latin typeface="Calibri"/>
              </a:rPr>
              <a:t>prioritizes options near the heritage site being explored.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200" b="1">
                <a:latin typeface="Calibri"/>
              </a:rPr>
              <a:t>Visitor context: </a:t>
            </a:r>
            <a:r>
              <a:rPr sz="1200" b="0">
                <a:latin typeface="Calibri"/>
              </a:rPr>
              <a:t>keeps practical stops close to the active heritage experience.</a:t>
            </a:r>
          </a:p>
          <a:p>
            <a:r>
              <a:rPr sz="1200" b="1">
                <a:latin typeface="Calibri"/>
              </a:rPr>
              <a:t>Practical filter: </a:t>
            </a:r>
            <a:r>
              <a:rPr sz="1200" b="0">
                <a:latin typeface="Calibri"/>
              </a:rPr>
              <a:t>prioritizes realistic walking distance from the heritage site being explored.</a:t>
            </a:r>
          </a:p>
        </p:txBody>
      </p:sp>
      <p:sp>
        <p:nvSpPr>
          <p:cNvPr id="12" name="Shape 24"/>
          <p:cNvSpPr/>
          <p:nvPr/>
        </p:nvSpPr>
        <p:spPr>
          <a:xfrm>
            <a:off x="8156448" y="1417320"/>
            <a:ext cx="3639312" cy="45262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25"/>
          <p:cNvSpPr/>
          <p:nvPr/>
        </p:nvSpPr>
        <p:spPr>
          <a:xfrm>
            <a:off x="8339327" y="1600200"/>
            <a:ext cx="457200" cy="457200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Box 37"/>
          <p:cNvSpPr txBox="1"/>
          <p:nvPr/>
        </p:nvSpPr>
        <p:spPr>
          <a:xfrm>
            <a:off x="8412480" y="1664208"/>
            <a:ext cx="310896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ejaVu Sans"/>
              </a:rPr>
              <a:t>➜</a:t>
            </a:r>
          </a:p>
        </p:txBody>
      </p:sp>
      <p:sp>
        <p:nvSpPr>
          <p:cNvPr id="14" name="Text 26"/>
          <p:cNvSpPr/>
          <p:nvPr/>
        </p:nvSpPr>
        <p:spPr>
          <a:xfrm>
            <a:off x="8732520" y="1572768"/>
            <a:ext cx="2862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2000" dirty="0"/>
          </a:p>
        </p:txBody>
      </p:sp>
      <p:sp>
        <p:nvSpPr>
          <p:cNvPr id="39" name="TextBox 38"/>
          <p:cNvSpPr txBox="1"/>
          <p:nvPr/>
        </p:nvSpPr>
        <p:spPr>
          <a:xfrm>
            <a:off x="8339327" y="2240280"/>
            <a:ext cx="3273552" cy="33375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200" b="1">
                <a:latin typeface="Calibri"/>
              </a:rPr>
              <a:t>Route planning: </a:t>
            </a:r>
            <a:r>
              <a:rPr sz="1200" b="0">
                <a:latin typeface="Calibri"/>
              </a:rPr>
              <a:t>helps visitors plan how to get to and between heritage sites.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200" b="1">
                <a:latin typeface="Calibri"/>
              </a:rPr>
              <a:t>Cluster travel: </a:t>
            </a:r>
            <a:r>
              <a:rPr sz="1200" b="0">
                <a:latin typeface="Calibri"/>
              </a:rPr>
              <a:t>supports multi-site regional trails such as Barkur and Kaup.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sz="1200" b="1">
                <a:latin typeface="Calibri"/>
              </a:rPr>
              <a:t>On-the-go context: </a:t>
            </a:r>
            <a:r>
              <a:rPr sz="1200" b="0">
                <a:latin typeface="Calibri"/>
              </a:rPr>
              <a:t>keeps movement planning connected to the visitor's live location.</a:t>
            </a:r>
          </a:p>
          <a:p>
            <a:r>
              <a:rPr sz="1200" b="1">
                <a:latin typeface="Calibri"/>
              </a:rPr>
              <a:t>Regional reach: </a:t>
            </a:r>
            <a:r>
              <a:rPr sz="1200" b="0">
                <a:latin typeface="Calibri"/>
              </a:rPr>
              <a:t>helps visitors reach lesser-known clusters like Barkur and Kaup, not just discover them.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6053328"/>
            <a:ext cx="11000232" cy="365760"/>
          </a:xfrm>
          <a:prstGeom prst="round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Offline positioning: </a:t>
            </a:r>
            <a:r>
              <a:rPr sz="1100" b="0">
                <a:solidFill>
                  <a:srgbClr val="FFFFFF"/>
                </a:solidFill>
                <a:latin typeface="Calibri"/>
              </a:rPr>
              <a:t>GPS signal averaging estimates approximate location when cellular data is unavailable.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498848"/>
            <a:ext cx="10652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>
                <a:solidFill>
                  <a:srgbClr val="1F3864"/>
                </a:solidFill>
                <a:latin typeface="Calibri"/>
              </a:rPr>
              <a:t>LOCATION-AWARE VISITOR JOURNEY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157984" y="5093208"/>
            <a:ext cx="8366760" cy="0"/>
          </a:xfrm>
          <a:prstGeom prst="line">
            <a:avLst/>
          </a:prstGeom>
          <a:ln w="31750">
            <a:solidFill>
              <a:srgbClr val="2A68B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956816" y="4882896"/>
            <a:ext cx="402336" cy="402336"/>
          </a:xfrm>
          <a:prstGeom prst="ellipse">
            <a:avLst/>
          </a:prstGeom>
          <a:solidFill>
            <a:srgbClr val="2A68B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08176" y="5394960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3864"/>
                </a:solidFill>
                <a:latin typeface="Calibri"/>
              </a:rPr>
              <a:t>CURRENT SITE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5632704"/>
            <a:ext cx="215798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Calibri"/>
              </a:rPr>
              <a:t>Explore the heritage feature</a:t>
            </a:r>
          </a:p>
        </p:txBody>
      </p:sp>
      <p:sp>
        <p:nvSpPr>
          <p:cNvPr id="46" name="Oval 45"/>
          <p:cNvSpPr/>
          <p:nvPr/>
        </p:nvSpPr>
        <p:spPr>
          <a:xfrm>
            <a:off x="5843016" y="4882896"/>
            <a:ext cx="402336" cy="402336"/>
          </a:xfrm>
          <a:prstGeom prst="ellipse">
            <a:avLst/>
          </a:prstGeom>
          <a:solidFill>
            <a:srgbClr val="2A68B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94376" y="5394960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3864"/>
                </a:solidFill>
                <a:latin typeface="Calibri"/>
              </a:rPr>
              <a:t>NEARBY STOP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65192" y="5632704"/>
            <a:ext cx="215798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Calibri"/>
              </a:rPr>
              <a:t>Find food &amp; practical amenities</a:t>
            </a:r>
          </a:p>
        </p:txBody>
      </p:sp>
      <p:sp>
        <p:nvSpPr>
          <p:cNvPr id="49" name="Oval 48"/>
          <p:cNvSpPr/>
          <p:nvPr/>
        </p:nvSpPr>
        <p:spPr>
          <a:xfrm>
            <a:off x="9729216" y="4882896"/>
            <a:ext cx="402336" cy="402336"/>
          </a:xfrm>
          <a:prstGeom prst="ellipse">
            <a:avLst/>
          </a:prstGeom>
          <a:solidFill>
            <a:srgbClr val="2A68B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80576" y="5394960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3864"/>
                </a:solidFill>
                <a:latin typeface="Calibri"/>
              </a:rPr>
              <a:t>NEXT SITE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51392" y="5632704"/>
            <a:ext cx="215798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Calibri"/>
              </a:rPr>
              <a:t>Plan the next heritage cluster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02536" y="4928616"/>
            <a:ext cx="3108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88736" y="4928616"/>
            <a:ext cx="3108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DejaVu Sans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74936" y="4928616"/>
            <a:ext cx="3108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➜</a:t>
            </a:r>
          </a:p>
        </p:txBody>
      </p:sp>
      <p:pic>
        <p:nvPicPr>
          <p:cNvPr id="16" name="Image 0" descr="/home/claude/work/logo_small.png">
            <a:extLst>
              <a:ext uri="{FF2B5EF4-FFF2-40B4-BE49-F238E27FC236}">
                <a16:creationId xmlns:a16="http://schemas.microsoft.com/office/drawing/2014/main" id="{4EA06BA2-8D92-DFE6-14F0-A4B377B19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01752"/>
            <a:ext cx="1600200" cy="7269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694944"/>
          </a:xfrm>
          <a:prstGeom prst="ellipse">
            <a:avLst/>
          </a:prstGeom>
          <a:solidFill>
            <a:srgbClr val="14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33172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Katha Setu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20240" y="237744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 Analysis</a:t>
            </a:r>
            <a:endParaRPr lang="en-US" sz="2400" dirty="0"/>
          </a:p>
        </p:txBody>
      </p:sp>
      <p:pic>
        <p:nvPicPr>
          <p:cNvPr id="5" name="Image 0" descr="/home/claude/work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01752"/>
            <a:ext cx="1600200" cy="7269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6547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|  Katha Setu  |  IHSIH005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078992"/>
            <a:ext cx="363931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66928" y="1261872"/>
            <a:ext cx="457200" cy="457200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work/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37160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" y="1234440"/>
            <a:ext cx="2688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Feasibility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85216" y="1878678"/>
            <a:ext cx="32552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CV: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on budget phones (2GB+ RAM) with under 80ms detection.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bottleneck: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 ID is fully on-device; narration falls back to local cache.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camera: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works on ordinary 1080p sensors, no LiDAR or depth hardware.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133088" y="1078992"/>
            <a:ext cx="386791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206240" y="1261872"/>
            <a:ext cx="457200" cy="457200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work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137160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81728" y="1234440"/>
            <a:ext cx="3410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8C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Operational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4315967" y="1869479"/>
            <a:ext cx="3588317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beacons, cabling, or physical change to a protected site.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onboarding: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entry QR code launches the web app or PWA immediately.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content: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coverage grows mainly through verified user tags, with a lightweight CMS letting ASI or state tourism partners bulk-add a site if needed.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56448" y="1078992"/>
            <a:ext cx="363931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339328" y="1261872"/>
            <a:ext cx="457200" cy="457200"/>
          </a:xfrm>
          <a:prstGeom prst="ellipse">
            <a:avLst/>
          </a:prstGeom>
          <a:solidFill>
            <a:srgbClr val="E17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work/icons/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137160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24544" y="1234440"/>
            <a:ext cx="2688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17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 Manipal Pilot Validation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8357616" y="1878678"/>
            <a:ext cx="32552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example: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Udupi, </a:t>
            </a:r>
            <a:r>
              <a:rPr lang="en-US" sz="12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Barkur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Kaup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 the model working in a real heritage zone.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experts: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historians and epigraphists can verify entries as moderators.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new region: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once tagged, it needs no retraining to expand further.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84048" y="3456432"/>
            <a:ext cx="11411712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594360" y="3602736"/>
            <a:ext cx="10954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Challenges, Risks &amp; Mitigation Strategies</a:t>
            </a:r>
            <a:endParaRPr lang="en-US" sz="2400" dirty="0"/>
          </a:p>
        </p:txBody>
      </p:sp>
      <p:sp>
        <p:nvSpPr>
          <p:cNvPr id="26" name="Shape 20"/>
          <p:cNvSpPr/>
          <p:nvPr/>
        </p:nvSpPr>
        <p:spPr>
          <a:xfrm>
            <a:off x="594360" y="3977640"/>
            <a:ext cx="365760" cy="365760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59436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1097280" y="394106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Lighting &amp; Stone Weathering</a:t>
            </a:r>
            <a:endParaRPr lang="en-US" dirty="0"/>
          </a:p>
        </p:txBody>
      </p:sp>
      <p:sp>
        <p:nvSpPr>
          <p:cNvPr id="29" name="Shape 23"/>
          <p:cNvSpPr/>
          <p:nvPr/>
        </p:nvSpPr>
        <p:spPr>
          <a:xfrm>
            <a:off x="10183087" y="3959352"/>
            <a:ext cx="1417320" cy="246888"/>
          </a:xfrm>
          <a:prstGeom prst="roundRect">
            <a:avLst>
              <a:gd name="adj" fmla="val 22222"/>
            </a:avLst>
          </a:prstGeom>
          <a:solidFill>
            <a:srgbClr val="0E8C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10183087" y="395935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097280" y="4187952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Carvings look very different at noon versus dusk, and stone erodes over time.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097280" y="4398264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lighting/shadow augmentation, multi-angle embeddings and edge-invariant feature extractors.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94360" y="4739640"/>
            <a:ext cx="365760" cy="365760"/>
          </a:xfrm>
          <a:prstGeom prst="ellipse">
            <a:avLst/>
          </a:prstGeom>
          <a:solidFill>
            <a:srgbClr val="E17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/>
          <p:nvPr/>
        </p:nvSpPr>
        <p:spPr>
          <a:xfrm>
            <a:off x="594360" y="4739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35" name="Text 29"/>
          <p:cNvSpPr/>
          <p:nvPr/>
        </p:nvSpPr>
        <p:spPr>
          <a:xfrm>
            <a:off x="1097280" y="470306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or Zero Cellular Connectivity</a:t>
            </a:r>
            <a:endParaRPr lang="en-US" dirty="0"/>
          </a:p>
        </p:txBody>
      </p:sp>
      <p:sp>
        <p:nvSpPr>
          <p:cNvPr id="36" name="Shape 30"/>
          <p:cNvSpPr/>
          <p:nvPr/>
        </p:nvSpPr>
        <p:spPr>
          <a:xfrm>
            <a:off x="10183087" y="4721352"/>
            <a:ext cx="1417320" cy="246888"/>
          </a:xfrm>
          <a:prstGeom prst="roundRect">
            <a:avLst>
              <a:gd name="adj" fmla="val 22222"/>
            </a:avLst>
          </a:prstGeom>
          <a:solidFill>
            <a:srgbClr val="E17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1"/>
          <p:cNvSpPr/>
          <p:nvPr/>
        </p:nvSpPr>
        <p:spPr>
          <a:xfrm>
            <a:off x="10183087" y="472135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1097280" y="4949952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shrines and remote sanctums often have no 4G/5G signal at all.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1097280" y="5157216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 b="1">
                <a:latin typeface="Calibri"/>
              </a:rPr>
              <a:t>Mitigation: </a:t>
            </a:r>
            <a:r>
              <a:rPr sz="1200" b="0">
                <a:latin typeface="Calibri"/>
              </a:rPr>
              <a:t>~25MB offline packs cache weights, vectors and audio; GPS averaging provides approximate position without cellular data.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594360" y="55016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5"/>
          <p:cNvSpPr/>
          <p:nvPr/>
        </p:nvSpPr>
        <p:spPr>
          <a:xfrm>
            <a:off x="594360" y="5504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2" name="Text 36"/>
          <p:cNvSpPr/>
          <p:nvPr/>
        </p:nvSpPr>
        <p:spPr>
          <a:xfrm>
            <a:off x="1097280" y="546811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 &amp; Historical Inaccuracy</a:t>
            </a:r>
            <a:endParaRPr lang="en-US" dirty="0"/>
          </a:p>
        </p:txBody>
      </p:sp>
      <p:sp>
        <p:nvSpPr>
          <p:cNvPr id="43" name="Shape 37"/>
          <p:cNvSpPr/>
          <p:nvPr/>
        </p:nvSpPr>
        <p:spPr>
          <a:xfrm>
            <a:off x="10183087" y="5483352"/>
            <a:ext cx="1417320" cy="246888"/>
          </a:xfrm>
          <a:prstGeom prst="roundRect">
            <a:avLst>
              <a:gd name="adj" fmla="val 22222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8"/>
          <p:cNvSpPr/>
          <p:nvPr/>
        </p:nvSpPr>
        <p:spPr>
          <a:xfrm>
            <a:off x="10183087" y="5486400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</a:t>
            </a:r>
            <a:endParaRPr lang="en-US" sz="1400" dirty="0"/>
          </a:p>
        </p:txBody>
      </p:sp>
      <p:sp>
        <p:nvSpPr>
          <p:cNvPr id="45" name="Text 39"/>
          <p:cNvSpPr/>
          <p:nvPr/>
        </p:nvSpPr>
        <p:spPr>
          <a:xfrm>
            <a:off x="1097280" y="5715000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unconstrained LLM can invent myths or misattribute a dynasty or motif.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1097280" y="5925312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Closed-domain RAG grounded strictly in ASI records and state gazetteers, with factual assertion filters.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694944"/>
          </a:xfrm>
          <a:prstGeom prst="ellipse">
            <a:avLst/>
          </a:prstGeom>
          <a:solidFill>
            <a:srgbClr val="14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19456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Katha Setu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20240" y="237744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Multi-Dimensional Benefits</a:t>
            </a:r>
            <a:endParaRPr lang="en-US" sz="2400" dirty="0"/>
          </a:p>
        </p:txBody>
      </p:sp>
      <p:pic>
        <p:nvPicPr>
          <p:cNvPr id="5" name="Image 0" descr="/home/claude/work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01752"/>
            <a:ext cx="1600200" cy="7269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6547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|  Katha Setu  |  IHSIH005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078992"/>
            <a:ext cx="534924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27858" y="124358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 Impact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94360" y="1682496"/>
            <a:ext cx="512064" cy="512064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work/icons/pilg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55" y="1801368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61872" y="1627632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600" b="1">
                <a:latin typeface="Calibri"/>
              </a:rPr>
              <a:t>Domestic tourists &amp; pilgrims: </a:t>
            </a:r>
            <a:r>
              <a:rPr sz="1600" b="0">
                <a:latin typeface="Calibri"/>
              </a:rPr>
              <a:t>temple symbolism in Kannada, Tulu, Hindi, Tamil or Telugu.</a:t>
            </a:r>
            <a:endParaRPr lang="en-US" sz="1600" dirty="0"/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00" b="0">
                <a:latin typeface="Calibri"/>
              </a:rPr>
              <a:t>• </a:t>
            </a:r>
            <a:r>
              <a:rPr sz="1200" b="1">
                <a:latin typeface="Calibri"/>
              </a:rPr>
              <a:t>Gamified discovery: </a:t>
            </a:r>
            <a:r>
              <a:rPr sz="1200" b="0">
                <a:latin typeface="Calibri"/>
              </a:rPr>
              <a:t>optional collectible mode makes scanning playful.</a:t>
            </a:r>
          </a:p>
        </p:txBody>
      </p:sp>
      <p:sp>
        <p:nvSpPr>
          <p:cNvPr id="14" name="Shape 10"/>
          <p:cNvSpPr/>
          <p:nvPr/>
        </p:nvSpPr>
        <p:spPr>
          <a:xfrm>
            <a:off x="594360" y="2798064"/>
            <a:ext cx="512064" cy="512064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work/icons/pla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55" y="2916936"/>
            <a:ext cx="266273" cy="2662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2798064"/>
            <a:ext cx="4343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600" b="1">
                <a:solidFill>
                  <a:srgbClr val="1F3864"/>
                </a:solidFill>
                <a:latin typeface="Calibri"/>
              </a:rPr>
              <a:t>International travelers: </a:t>
            </a:r>
            <a:r>
              <a:rPr sz="1600" b="0">
                <a:solidFill>
                  <a:srgbClr val="1F3864"/>
                </a:solidFill>
                <a:latin typeface="Calibri"/>
              </a:rPr>
              <a:t>decode complex Indian iconography without an overpriced guide.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94360" y="3913632"/>
            <a:ext cx="512064" cy="512064"/>
          </a:xfrm>
          <a:prstGeom prst="ellipse">
            <a:avLst/>
          </a:prstGeom>
          <a:solidFill>
            <a:srgbClr val="E17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work/icons/gradc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255" y="4032504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61872" y="385876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600" b="1">
                <a:latin typeface="Calibri"/>
              </a:rPr>
              <a:t>Students &amp; art historians: </a:t>
            </a:r>
            <a:r>
              <a:rPr sz="1600" b="0">
                <a:latin typeface="Calibri"/>
              </a:rPr>
              <a:t>interactive lessons on sculpture and dynastic history.</a:t>
            </a:r>
            <a:endParaRPr lang="en-US" sz="1600" dirty="0"/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00" b="0">
                <a:latin typeface="Calibri"/>
              </a:rPr>
              <a:t>• </a:t>
            </a:r>
            <a:r>
              <a:rPr sz="1200" b="1">
                <a:latin typeface="Calibri"/>
              </a:rPr>
              <a:t>Visit history: </a:t>
            </a:r>
            <a:r>
              <a:rPr sz="1200" b="0">
                <a:latin typeface="Calibri"/>
              </a:rPr>
              <a:t>save discovered features across sessions for later study.</a:t>
            </a:r>
          </a:p>
        </p:txBody>
      </p:sp>
      <p:sp>
        <p:nvSpPr>
          <p:cNvPr id="20" name="Shape 14"/>
          <p:cNvSpPr/>
          <p:nvPr/>
        </p:nvSpPr>
        <p:spPr>
          <a:xfrm>
            <a:off x="594360" y="5038344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/home/claude/work/icons/peo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255" y="5157216"/>
            <a:ext cx="266273" cy="26627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61872" y="5047488"/>
            <a:ext cx="4343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600" b="1">
                <a:solidFill>
                  <a:srgbClr val="1F3864"/>
                </a:solidFill>
                <a:latin typeface="Calibri"/>
              </a:rPr>
              <a:t>Local guides &amp; communities: </a:t>
            </a:r>
            <a:r>
              <a:rPr sz="1600" b="0">
                <a:solidFill>
                  <a:srgbClr val="1F3864"/>
                </a:solidFill>
                <a:latin typeface="Calibri"/>
              </a:rPr>
              <a:t>co-create verified folklore content and earn platform incentives.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5943600" y="1078992"/>
            <a:ext cx="5852160" cy="1216152"/>
          </a:xfrm>
          <a:prstGeom prst="roundRect">
            <a:avLst>
              <a:gd name="adj" fmla="val 9023"/>
            </a:avLst>
          </a:prstGeom>
          <a:solidFill>
            <a:srgbClr val="E7F6F2"/>
          </a:solidFill>
          <a:ln w="15875">
            <a:solidFill>
              <a:srgbClr val="0E8C7F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6108192" y="1449324"/>
            <a:ext cx="475488" cy="475488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/home/claude/work/icons/le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2309" y="1563441"/>
            <a:ext cx="247254" cy="24725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10449" y="131216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8C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Preservation</a:t>
            </a:r>
            <a:endParaRPr lang="en-US" sz="2000" dirty="0"/>
          </a:p>
        </p:txBody>
      </p:sp>
      <p:sp>
        <p:nvSpPr>
          <p:cNvPr id="27" name="Text 19"/>
          <p:cNvSpPr/>
          <p:nvPr/>
        </p:nvSpPr>
        <p:spPr>
          <a:xfrm>
            <a:off x="6710449" y="1604772"/>
            <a:ext cx="489204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8000"/>
              </a:lnSpc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oral folklore and temple histories into an open, community-verified repository before that local knowledge is lost.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943600" y="2441448"/>
            <a:ext cx="5852160" cy="1216152"/>
          </a:xfrm>
          <a:prstGeom prst="roundRect">
            <a:avLst>
              <a:gd name="adj" fmla="val 9023"/>
            </a:avLst>
          </a:prstGeom>
          <a:solidFill>
            <a:srgbClr val="FDEEE3"/>
          </a:solidFill>
          <a:ln w="15875">
            <a:solidFill>
              <a:srgbClr val="E1732E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1"/>
          <p:cNvSpPr/>
          <p:nvPr/>
        </p:nvSpPr>
        <p:spPr>
          <a:xfrm>
            <a:off x="6108192" y="2811780"/>
            <a:ext cx="475488" cy="475488"/>
          </a:xfrm>
          <a:prstGeom prst="ellipse">
            <a:avLst/>
          </a:prstGeom>
          <a:solidFill>
            <a:srgbClr val="E17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6" descr="/home/claude/work/icons/m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2309" y="2925897"/>
            <a:ext cx="247254" cy="24725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710449" y="26746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17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&amp; Regional Tourism</a:t>
            </a:r>
            <a:endParaRPr lang="en-US" sz="2000" dirty="0"/>
          </a:p>
        </p:txBody>
      </p:sp>
      <p:sp>
        <p:nvSpPr>
          <p:cNvPr id="32" name="Text 23"/>
          <p:cNvSpPr/>
          <p:nvPr/>
        </p:nvSpPr>
        <p:spPr>
          <a:xfrm>
            <a:off x="6710449" y="2967228"/>
            <a:ext cx="489204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 visitor dwell time and steers footfall to lesser-known clusters like Barkur and Kaup.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5943600" y="3803904"/>
            <a:ext cx="5852160" cy="1216152"/>
          </a:xfrm>
          <a:prstGeom prst="roundRect">
            <a:avLst>
              <a:gd name="adj" fmla="val 9023"/>
            </a:avLst>
          </a:prstGeom>
          <a:solidFill>
            <a:srgbClr val="EAF2FB"/>
          </a:solidFill>
          <a:ln w="15875">
            <a:solidFill>
              <a:srgbClr val="1F5FA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5"/>
          <p:cNvSpPr/>
          <p:nvPr/>
        </p:nvSpPr>
        <p:spPr>
          <a:xfrm>
            <a:off x="6108192" y="4174236"/>
            <a:ext cx="475488" cy="475488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7" descr="/home/claude/work/icons/shie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2309" y="4288353"/>
            <a:ext cx="247254" cy="24725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710449" y="403707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Sustainability</a:t>
            </a:r>
            <a:endParaRPr lang="en-US" sz="2000" dirty="0"/>
          </a:p>
        </p:txBody>
      </p:sp>
      <p:sp>
        <p:nvSpPr>
          <p:cNvPr id="37" name="Text 27"/>
          <p:cNvSpPr/>
          <p:nvPr/>
        </p:nvSpPr>
        <p:spPr>
          <a:xfrm>
            <a:off x="6710449" y="4329684"/>
            <a:ext cx="489204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digital, so it cuts printed brochures, plastic signage and disposable audio-guide devices.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5943600" y="5166360"/>
            <a:ext cx="5852160" cy="1216152"/>
          </a:xfrm>
          <a:prstGeom prst="roundRect">
            <a:avLst>
              <a:gd name="adj" fmla="val 9023"/>
            </a:avLst>
          </a:prstGeom>
          <a:solidFill>
            <a:srgbClr val="F8ECEA"/>
          </a:solidFill>
          <a:ln w="15875">
            <a:solidFill>
              <a:srgbClr val="B85042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29"/>
          <p:cNvSpPr/>
          <p:nvPr/>
        </p:nvSpPr>
        <p:spPr>
          <a:xfrm>
            <a:off x="6108192" y="5536692"/>
            <a:ext cx="475488" cy="47548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8" descr="/home/claude/work/icons/netwo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2309" y="5650809"/>
            <a:ext cx="247254" cy="24725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710449" y="53995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 &amp; Government Analytics</a:t>
            </a:r>
            <a:endParaRPr lang="en-US" sz="2000" dirty="0"/>
          </a:p>
        </p:txBody>
      </p:sp>
      <p:sp>
        <p:nvSpPr>
          <p:cNvPr id="42" name="Text 31"/>
          <p:cNvSpPr/>
          <p:nvPr/>
        </p:nvSpPr>
        <p:spPr>
          <a:xfrm>
            <a:off x="6710449" y="5559552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curiosity heatmaps show which carvings draw interest, informing conservation priorities.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sz="1100" b="1">
                <a:solidFill>
                  <a:srgbClr val="3D4A5C"/>
                </a:solidFill>
                <a:latin typeface="Calibri"/>
              </a:rPr>
              <a:t>Restoration reporting: </a:t>
            </a:r>
            <a:r>
              <a:rPr sz="1100" b="0">
                <a:solidFill>
                  <a:srgbClr val="3D4A5C"/>
                </a:solidFill>
                <a:latin typeface="Calibri"/>
              </a:rPr>
              <a:t>flag damage for ASI/local-authority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694944"/>
          </a:xfrm>
          <a:prstGeom prst="ellipse">
            <a:avLst/>
          </a:prstGeom>
          <a:solidFill>
            <a:srgbClr val="14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56616" y="219456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Katha Setu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20240" y="237744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Research, Benchmarks &amp; References</a:t>
            </a:r>
            <a:endParaRPr lang="en-US" sz="2400" dirty="0"/>
          </a:p>
        </p:txBody>
      </p:sp>
      <p:pic>
        <p:nvPicPr>
          <p:cNvPr id="5" name="Image 0" descr="/home/claude/work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01752"/>
            <a:ext cx="1600200" cy="7269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6547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|  Katha Setu  |  IHSIH005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078992"/>
            <a:ext cx="5614416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85216" y="1261872"/>
            <a:ext cx="457200" cy="457200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work/icons/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37160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1234440"/>
            <a:ext cx="4626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&amp; Heritage AI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03504" y="1856232"/>
            <a:ext cx="51937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recognition: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IEEE/ACM heritage-computing literature on deep transfer learning for stone relief classification.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segmentation: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MobileSAM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Florence-2 vision foundation models for real-time boundary detection.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benchmarks: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YOLOv11 and ONNX Runtime for sub-80ms on-device object detection.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81344" y="1078992"/>
            <a:ext cx="5614416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382512" y="1261872"/>
            <a:ext cx="457200" cy="457200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work/icons/vo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37160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7728" y="1234440"/>
            <a:ext cx="4626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8C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Indic NLP &amp; Speech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400800" y="1856232"/>
            <a:ext cx="51937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</a:t>
            </a: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(NLTM):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 India's open APIs for real-time Indic text-to-speech and dialect phonemes.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Indic-TTS and IndicTrans2 speech models covering Dravidian and Indo-Aryan languages.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synthesis: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Llama-3.3-8B /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IndicLLM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 for structured, culturally accurate narration scripts.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84048" y="3822192"/>
            <a:ext cx="5614416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585216" y="4005072"/>
            <a:ext cx="457200" cy="457200"/>
          </a:xfrm>
          <a:prstGeom prst="ellipse">
            <a:avLst/>
          </a:prstGeom>
          <a:solidFill>
            <a:srgbClr val="E17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work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11480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3977640"/>
            <a:ext cx="4626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17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Archaeological Archives &amp; Canons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03504" y="4599432"/>
            <a:ext cx="51937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 records: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Architectural Survey of Temples monographs,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Epigraphia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Carnatica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state gazetteers.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Shilpa</a:t>
            </a: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Shastra texts: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Manasara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Mayamata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Shilpa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Prakasha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canons on temple iconography.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archives: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Directorate of Archaeology and Museums monument registries.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181344" y="3822192"/>
            <a:ext cx="5614416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999999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6382512" y="4005072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work/icons/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11480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67728" y="3977640"/>
            <a:ext cx="4626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Crowdsourced Heritage Data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6400800" y="4599432"/>
            <a:ext cx="51937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Citizen-science precedent: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platforms like Wikipedia,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iNaturalist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 that community tagging with moderation builds large, reliable datasets over time.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circuits: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Hoysala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sites (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Belur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Halebidu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Somnathpura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UNESCO sites (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Pattadakal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as future coverage targets.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guidelines:  </a:t>
            </a: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Charter for the Interpretation and Presentation of Cultural Heritage Sites.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1668</Words>
  <Application>Microsoft Office PowerPoint</Application>
  <PresentationFormat>Widescreen</PresentationFormat>
  <Paragraphs>197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DejaVu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KAUSIKI SAH - 251090052272 - MITMPL</cp:lastModifiedBy>
  <cp:revision>13</cp:revision>
  <dcterms:created xsi:type="dcterms:W3CDTF">2026-08-16T19:09:18Z</dcterms:created>
  <dcterms:modified xsi:type="dcterms:W3CDTF">2026-08-27T09:42:46Z</dcterms:modified>
</cp:coreProperties>
</file>